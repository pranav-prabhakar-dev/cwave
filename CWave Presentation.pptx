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71" r:id="rId4"/>
    <p:sldId id="272" r:id="rId5"/>
    <p:sldId id="274" r:id="rId6"/>
    <p:sldId id="273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65" r:id="rId21"/>
    <p:sldId id="266" r:id="rId22"/>
    <p:sldId id="288" r:id="rId23"/>
    <p:sldId id="267" r:id="rId24"/>
    <p:sldId id="294" r:id="rId25"/>
    <p:sldId id="295" r:id="rId26"/>
    <p:sldId id="269" r:id="rId27"/>
    <p:sldId id="292" r:id="rId28"/>
    <p:sldId id="290" r:id="rId29"/>
    <p:sldId id="289" r:id="rId30"/>
  </p:sldIdLst>
  <p:sldSz cx="9144000" cy="5143500" type="screen16x9"/>
  <p:notesSz cx="6858000" cy="9144000"/>
  <p:embeddedFontLst>
    <p:embeddedFont>
      <p:font typeface="Baskerville Old Face" panose="02020602080505020303" pitchFamily="18" charset="0"/>
      <p:regular r:id="rId32"/>
    </p:embeddedFont>
    <p:embeddedFont>
      <p:font typeface="Fira Code" panose="020B0809050000020004" pitchFamily="49" charset="0"/>
      <p:regular r:id="rId33"/>
      <p:bold r:id="rId34"/>
    </p:embeddedFont>
    <p:embeddedFont>
      <p:font typeface="Open Sans" panose="020B0604020202020204" charset="0"/>
      <p:regular r:id="rId35"/>
      <p:bold r:id="rId36"/>
      <p:italic r:id="rId37"/>
      <p:boldItalic r:id="rId38"/>
    </p:embeddedFont>
    <p:embeddedFont>
      <p:font typeface="Open Sans Light" panose="020B0604020202020204" charset="0"/>
      <p:regular r:id="rId39"/>
      <p:bold r:id="rId40"/>
      <p:italic r:id="rId41"/>
      <p:boldItalic r:id="rId42"/>
    </p:embeddedFont>
    <p:embeddedFont>
      <p:font typeface="Roboto Mono" panose="020B0604020202020204" charset="0"/>
      <p:regular r:id="rId43"/>
      <p:bold r:id="rId44"/>
      <p:italic r:id="rId45"/>
      <p:boldItalic r:id="rId46"/>
    </p:embeddedFont>
    <p:embeddedFont>
      <p:font typeface="Work Sans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04D98-96FC-31D7-0874-2CFE35D61BE3}" v="24" dt="2025-05-26T17:50:04.707"/>
    <p1510:client id="{2EC02B31-3B78-4986-6228-BA8BA909C8D7}" v="48" dt="2025-05-26T19:29:16.714"/>
    <p1510:client id="{3AF1E637-0E12-2105-6BE9-1B8C4DE5E92A}" v="149" dt="2025-05-26T18:34:09.973"/>
    <p1510:client id="{3BB53BC3-D91B-A595-0D2A-062E6D5F00C5}" v="129" dt="2025-05-26T19:24:54.584"/>
    <p1510:client id="{4341B1AC-880B-8296-1AD4-8A097680B74A}" v="271" dt="2025-05-26T19:15:21.346"/>
    <p1510:client id="{E0BE5232-3325-E887-9BDE-A2B70128CD68}" v="408" dt="2025-05-26T18:13:06.124"/>
    <p1510:client id="{E62BDB6E-D2DA-A1BF-4F6F-47BDF98A9C5C}" v="109" dt="2025-05-26T17:57:33.333"/>
    <p1510:client id="{F6E87EF5-9134-F3A9-0DF3-86B1FF00BE0A}" v="202" dt="2025-05-26T18:54:29.545"/>
  </p1510:revLst>
</p1510:revInfo>
</file>

<file path=ppt/tableStyles.xml><?xml version="1.0" encoding="utf-8"?>
<a:tblStyleLst xmlns:a="http://schemas.openxmlformats.org/drawingml/2006/main" def="{D577F5AA-02D9-4877-BA45-443C476BD08A}">
  <a:tblStyle styleId="{D577F5AA-02D9-4877-BA45-443C476BD0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63" y="3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0146366-F85B-626E-322C-4793ADD7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501C8626-18B1-9D42-8970-DFE85442C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F04326B3-7A01-1047-64AC-E2A513D37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664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60AF0BF-DF0B-6203-FAE9-55F7DE25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43B8CD5E-EFCF-5802-EF6D-BA34B2970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A4ED9799-D7D7-4F5B-BEB8-D0CD518B8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871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0974D22-0278-6982-962A-3C8EC948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FB789CE4-8273-B91B-7ABA-3778BAF64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AD8F4578-C465-B9AD-9BA9-65F332661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797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94E5543-CBCF-9E47-A77B-62EED125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E1914E4D-BC70-B90A-349E-785E40A64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D3191F04-A5DC-0F86-EE0F-4A9C87763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94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93917F6-C309-591F-FFB3-5B817CBA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831ECEDE-3CE2-9A33-F6C4-0F1642EE06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C3A2910B-3122-C8FB-2068-06B4269D35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990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1E06366-13CC-E091-224D-5AC1CF0F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2C07FDC5-4669-452E-E7C9-B3EBFC0B9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F702C04B-A7E4-6208-96C9-A973136AF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173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90A6DA7-3A42-9751-8EC6-4B0B764B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E59F42D2-BFD8-007F-F10F-F7BCFA77C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654889BC-00CA-C06D-0DA6-51BE0F62F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264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F3717BE-D1DE-6DC9-1E00-81F81F4E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64AAB58F-EA5E-774B-B131-F04E29D77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4A4E4E36-82A7-570D-EF65-55A88B8F8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6655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0F595AF-3755-8B98-A310-555891AD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9533A73C-DDCE-AD0E-2B9C-1DB65FBCE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55812C66-1B0F-389E-ADD2-3352E4E4B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80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BB88358-49C3-3754-116F-E70372698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DCA95A1B-57B0-49E6-9717-CB59EF81F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7BE20A37-F15F-2A98-6424-5BFEE5256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73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8C4B26F-7E60-41F2-BBFD-F2D46B97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54A199DE-0805-6E1F-5EB3-E97AFC76E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7812145E-9E1F-5AAF-9525-43923C396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141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772ADBB-E81D-DF82-B1F5-89940B01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03F13CBE-2574-BC48-0F39-7B40D8EE6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3FF32E90-5ED0-8052-3A23-BBEBBB0E8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353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611E5CF-FE63-7D1E-AB97-DE450398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90186CCF-2EF1-C4A4-F490-73A85A0F4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14F168D2-78BA-384E-170A-8A7CF6664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544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CF3B174-CAE6-656F-78D1-F7AA0759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378ADE8D-09F8-4C50-DC35-B98297C64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B406494B-AF33-C586-D76F-6351B68A1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570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5A2F184-6604-292A-B9B0-6835C9BE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022375E6-F3B4-3E6D-41B6-430CAB63F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CAA71550-CCB4-ED0B-BFC8-AB7FB1DC6A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020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EB9026C-708B-746F-7DC9-F06E7D6F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38A73EE3-EC65-4341-CC6E-CA4E8D7F6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645C0615-9F80-75DD-B7E3-9AA72746C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716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C5D9C5-242F-FE2C-2707-5F09069F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C3622B88-32DA-4C74-7B33-1326834C4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826AC313-B208-8760-72DF-C073DF6F7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662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d4bff7bcc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8" name="Google Shape;118;g35d4bff7bcc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d4bff7bcc_3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6" name="Google Shape;126;g35d4bff7bcc_3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d4bff7bcc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4" name="Google Shape;134;g35d4bff7bcc_3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B8A603A-F3C8-4B1E-92D4-6ED36FCA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CF6E803D-CEAB-A180-20DE-FF44A173C0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F50A86FE-BEBA-CC72-7A29-50F0B6899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6513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5F30CAD-B6DB-DB1B-00BB-FD0753B2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e80c13d_0_0:notes">
            <a:extLst>
              <a:ext uri="{FF2B5EF4-FFF2-40B4-BE49-F238E27FC236}">
                <a16:creationId xmlns:a16="http://schemas.microsoft.com/office/drawing/2014/main" id="{9B8152EA-8765-38C4-A438-FA1EE2246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9" name="Google Shape;59;g35d4e80c13d_0_0:notes">
            <a:extLst>
              <a:ext uri="{FF2B5EF4-FFF2-40B4-BE49-F238E27FC236}">
                <a16:creationId xmlns:a16="http://schemas.microsoft.com/office/drawing/2014/main" id="{C6F39870-86DB-83BF-2593-9C77430A6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161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d4bff7bcc_3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0" name="Google Shape;150;g35d4bff7bcc_3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02BCBE93-6645-F8C9-A7AE-266C26AA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d4bff7bcc_3_77:notes">
            <a:extLst>
              <a:ext uri="{FF2B5EF4-FFF2-40B4-BE49-F238E27FC236}">
                <a16:creationId xmlns:a16="http://schemas.microsoft.com/office/drawing/2014/main" id="{005C3310-5545-0D28-7AC7-0C2F88C41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0" name="Google Shape;150;g35d4bff7bcc_3_77:notes">
            <a:extLst>
              <a:ext uri="{FF2B5EF4-FFF2-40B4-BE49-F238E27FC236}">
                <a16:creationId xmlns:a16="http://schemas.microsoft.com/office/drawing/2014/main" id="{533FB39D-5DB2-1465-D486-614DA37FA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78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8808" y="976358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0" b="1" dirty="0" err="1">
                <a:latin typeface="Open Sans"/>
                <a:ea typeface="Open Sans"/>
                <a:cs typeface="Open Sans"/>
                <a:sym typeface="Open Sans"/>
              </a:rPr>
              <a:t>CWave</a:t>
            </a:r>
            <a:endParaRPr sz="4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224400" y="4501222"/>
            <a:ext cx="2919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7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​</a:t>
            </a:r>
            <a:r>
              <a:rPr lang="en" sz="87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Made by Pranav Prabhakar</a:t>
            </a:r>
            <a:endParaRPr lang="en" sz="87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7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Contributors: </a:t>
            </a:r>
            <a:r>
              <a:rPr lang="en-IN" sz="870" dirty="0">
                <a:solidFill>
                  <a:schemeClr val="dk1"/>
                </a:solidFill>
              </a:rPr>
              <a:t>Prema P Kotur</a:t>
            </a:r>
            <a:r>
              <a:rPr lang="en-IN" sz="87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</a:t>
            </a:r>
            <a:r>
              <a:rPr lang="en-IN" sz="870" dirty="0">
                <a:solidFill>
                  <a:schemeClr val="dk1"/>
                </a:solidFill>
              </a:rPr>
              <a:t>Pranav Chandrasekar</a:t>
            </a:r>
            <a:endParaRPr sz="87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52087" y="2658716"/>
            <a:ext cx="26418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 basic Synthesizer made using C.</a:t>
            </a:r>
            <a:endParaRPr sz="1100" dirty="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78650" y="2063100"/>
            <a:ext cx="57867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20" b="1"/>
              <a:t>What is </a:t>
            </a:r>
            <a:r>
              <a:rPr lang="en" sz="4720" b="1">
                <a:latin typeface="Fira Code"/>
                <a:ea typeface="Fira Code"/>
                <a:cs typeface="Fira Code"/>
                <a:sym typeface="Fira Code"/>
              </a:rPr>
              <a:t>CWave</a:t>
            </a:r>
            <a:r>
              <a:rPr lang="en" sz="4720" b="1"/>
              <a:t>?</a:t>
            </a:r>
            <a:endParaRPr sz="472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472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CF90E62-5B9D-AC91-4E64-FCA16BC9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10FAF728-4981-B23C-71B5-26A6A590C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8650" y="1653345"/>
            <a:ext cx="57867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20" b="1"/>
              <a:t>What is </a:t>
            </a:r>
            <a:r>
              <a:rPr lang="en" sz="4720" b="1">
                <a:latin typeface="Fira Code"/>
                <a:ea typeface="Fira Code"/>
                <a:cs typeface="Fira Code"/>
                <a:sym typeface="Fira Code"/>
              </a:rPr>
              <a:t>CWave</a:t>
            </a:r>
            <a:r>
              <a:rPr lang="en" sz="4720" b="1"/>
              <a:t>?</a:t>
            </a:r>
            <a:endParaRPr sz="472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472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9802F-3BCE-25A4-E5F8-A1F6E8091A5D}"/>
              </a:ext>
            </a:extLst>
          </p:cNvPr>
          <p:cNvSpPr txBox="1"/>
          <p:nvPr/>
        </p:nvSpPr>
        <p:spPr>
          <a:xfrm>
            <a:off x="2032599" y="2674569"/>
            <a:ext cx="5078801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300" err="1">
                <a:solidFill>
                  <a:srgbClr val="595959"/>
                </a:solidFill>
                <a:latin typeface="Open Sans"/>
                <a:ea typeface="Open Sans"/>
                <a:cs typeface="Open Sans"/>
              </a:rPr>
              <a:t>CWave</a:t>
            </a:r>
            <a:r>
              <a:rPr lang="en" sz="1300">
                <a:solidFill>
                  <a:srgbClr val="595959"/>
                </a:solidFill>
                <a:latin typeface="Open Sans"/>
                <a:ea typeface="Open Sans"/>
                <a:cs typeface="Open Sans"/>
              </a:rPr>
              <a:t> is a simple synthesizer, made in C. It lets you play and record sounds using your computer keyboard or a MIDI device.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15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E867284-A709-4A9A-CB6B-3EDA7943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2C5828A1-DF04-B0FD-E1D4-398A250AD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8650" y="2219454"/>
            <a:ext cx="5786700" cy="704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600" b="1"/>
              <a:t>Different waveforms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57066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AE77C6F-91A0-18E3-1CF6-A85A473C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9B50E969-84B7-181A-2C81-8889A55F89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8650" y="1770935"/>
            <a:ext cx="5786700" cy="704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600" b="1"/>
              <a:t>Different waveforms</a:t>
            </a:r>
            <a:endParaRPr lang="en-US" sz="180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AD842AA9-6485-73DC-64E8-C8712AEE1DCF}"/>
              </a:ext>
            </a:extLst>
          </p:cNvPr>
          <p:cNvSpPr txBox="1">
            <a:spLocks/>
          </p:cNvSpPr>
          <p:nvPr/>
        </p:nvSpPr>
        <p:spPr>
          <a:xfrm>
            <a:off x="821554" y="2577334"/>
            <a:ext cx="7490311" cy="71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" sz="3600" b="1"/>
              <a:t>Volume and octave control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90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16F8E09-5E28-1097-3F9F-3AB4E692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EC41EE79-AC78-AD6C-4439-5986420344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8650" y="1393529"/>
            <a:ext cx="5786700" cy="704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600" b="1"/>
              <a:t>Different waveforms</a:t>
            </a:r>
            <a:endParaRPr lang="en-US" sz="180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9DCD6165-DE08-AEAB-1774-C354B2DDF3F2}"/>
              </a:ext>
            </a:extLst>
          </p:cNvPr>
          <p:cNvSpPr txBox="1">
            <a:spLocks/>
          </p:cNvSpPr>
          <p:nvPr/>
        </p:nvSpPr>
        <p:spPr>
          <a:xfrm>
            <a:off x="1075554" y="2211472"/>
            <a:ext cx="6993856" cy="70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" sz="3600" b="1"/>
              <a:t>Volume and octave control </a:t>
            </a:r>
            <a:endParaRPr lang="en-US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C322C18B-0F54-EE33-9948-213459174FF6}"/>
              </a:ext>
            </a:extLst>
          </p:cNvPr>
          <p:cNvSpPr txBox="1">
            <a:spLocks/>
          </p:cNvSpPr>
          <p:nvPr/>
        </p:nvSpPr>
        <p:spPr>
          <a:xfrm>
            <a:off x="489731" y="3025589"/>
            <a:ext cx="8171274" cy="70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" sz="3600" b="1"/>
              <a:t>Using a keyboard to control</a:t>
            </a:r>
          </a:p>
        </p:txBody>
      </p:sp>
    </p:spTree>
    <p:extLst>
      <p:ext uri="{BB962C8B-B14F-4D97-AF65-F5344CB8AC3E}">
        <p14:creationId xmlns:p14="http://schemas.microsoft.com/office/powerpoint/2010/main" val="628457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D969184-9AA7-47C7-5375-76C36DF4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A1FA822-E654-A855-398A-223E222EA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8650" y="1012529"/>
            <a:ext cx="5786700" cy="704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600" b="1"/>
              <a:t>Different waveforms</a:t>
            </a:r>
            <a:endParaRPr lang="en-US" sz="180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B5D763A0-5992-2BA6-0B1E-53D2540C5C88}"/>
              </a:ext>
            </a:extLst>
          </p:cNvPr>
          <p:cNvSpPr txBox="1">
            <a:spLocks/>
          </p:cNvSpPr>
          <p:nvPr/>
        </p:nvSpPr>
        <p:spPr>
          <a:xfrm>
            <a:off x="1075554" y="1830472"/>
            <a:ext cx="6993856" cy="70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" sz="3600" b="1"/>
              <a:t>Volume and octave control </a:t>
            </a:r>
            <a:endParaRPr lang="en-US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527D0F36-9298-2A23-5323-8735468DB5FF}"/>
              </a:ext>
            </a:extLst>
          </p:cNvPr>
          <p:cNvSpPr txBox="1">
            <a:spLocks/>
          </p:cNvSpPr>
          <p:nvPr/>
        </p:nvSpPr>
        <p:spPr>
          <a:xfrm>
            <a:off x="1067003" y="2644589"/>
            <a:ext cx="7022502" cy="70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" sz="3600" b="1"/>
              <a:t>Using a keyboard to control</a:t>
            </a:r>
          </a:p>
        </p:txBody>
      </p:sp>
      <p:sp>
        <p:nvSpPr>
          <p:cNvPr id="4" name="Google Shape;61;p14">
            <a:extLst>
              <a:ext uri="{FF2B5EF4-FFF2-40B4-BE49-F238E27FC236}">
                <a16:creationId xmlns:a16="http://schemas.microsoft.com/office/drawing/2014/main" id="{91E1DB04-E4EF-E385-E031-AE31D7D59FFA}"/>
              </a:ext>
            </a:extLst>
          </p:cNvPr>
          <p:cNvSpPr txBox="1">
            <a:spLocks/>
          </p:cNvSpPr>
          <p:nvPr/>
        </p:nvSpPr>
        <p:spPr>
          <a:xfrm>
            <a:off x="1430684" y="3460013"/>
            <a:ext cx="6295139" cy="70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" sz="3600" b="1"/>
              <a:t>Recording sessions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07998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B268ADD-618F-108F-DB11-652EF4BF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185F29AB-9DD9-E249-0D32-EB7A58492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063100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700" b="1"/>
              <a:t>includes and definitions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3254297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2F98A85-5588-9BCE-E9CE-40B7F1382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865F56E-B564-733B-BAD0-B361671531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429419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000" b="1"/>
              <a:t>includes and definitions</a:t>
            </a:r>
            <a:endParaRPr lang="en-US" sz="440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BAE2A-B675-91A5-1A3D-F4460B6FD1A3}"/>
              </a:ext>
            </a:extLst>
          </p:cNvPr>
          <p:cNvSpPr txBox="1"/>
          <p:nvPr/>
        </p:nvSpPr>
        <p:spPr>
          <a:xfrm>
            <a:off x="3082636" y="1806427"/>
            <a:ext cx="277668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#include &lt;</a:t>
            </a:r>
            <a:r>
              <a:rPr lang="en" sz="1600" b="1" err="1">
                <a:solidFill>
                  <a:srgbClr val="188038"/>
                </a:solidFill>
                <a:latin typeface="Roboto Mono"/>
                <a:ea typeface="Roboto Mono"/>
              </a:rPr>
              <a:t>stdio.h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&gt;</a:t>
            </a:r>
            <a:endParaRPr 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CF839-E76E-7B03-4B8D-28966E668E03}"/>
              </a:ext>
            </a:extLst>
          </p:cNvPr>
          <p:cNvSpPr txBox="1"/>
          <p:nvPr/>
        </p:nvSpPr>
        <p:spPr>
          <a:xfrm>
            <a:off x="2869045" y="2147018"/>
            <a:ext cx="325581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#include &lt;</a:t>
            </a:r>
            <a:r>
              <a:rPr lang="en" sz="1600" b="1" err="1">
                <a:solidFill>
                  <a:srgbClr val="188038"/>
                </a:solidFill>
                <a:latin typeface="Roboto Mono"/>
                <a:ea typeface="Roboto Mono"/>
              </a:rPr>
              <a:t>stdlib.h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&gt;</a:t>
            </a: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A962F-E817-1C12-D4E1-89A2857C2AAB}"/>
              </a:ext>
            </a:extLst>
          </p:cNvPr>
          <p:cNvSpPr txBox="1"/>
          <p:nvPr/>
        </p:nvSpPr>
        <p:spPr>
          <a:xfrm>
            <a:off x="2724726" y="2499153"/>
            <a:ext cx="35444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#include &lt;</a:t>
            </a:r>
            <a:r>
              <a:rPr lang="en" sz="1600" b="1" err="1">
                <a:solidFill>
                  <a:srgbClr val="188038"/>
                </a:solidFill>
                <a:latin typeface="Roboto Mono"/>
                <a:ea typeface="Roboto Mono"/>
              </a:rPr>
              <a:t>math.h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&gt;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51050-D3B5-EB8D-7657-7399934AFAB3}"/>
              </a:ext>
            </a:extLst>
          </p:cNvPr>
          <p:cNvSpPr txBox="1"/>
          <p:nvPr/>
        </p:nvSpPr>
        <p:spPr>
          <a:xfrm>
            <a:off x="2799772" y="2839745"/>
            <a:ext cx="35444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#include &lt;</a:t>
            </a:r>
            <a:r>
              <a:rPr lang="en" sz="1600" b="1" err="1">
                <a:solidFill>
                  <a:srgbClr val="188038"/>
                </a:solidFill>
                <a:latin typeface="Roboto Mono"/>
                <a:ea typeface="Roboto Mono"/>
              </a:rPr>
              <a:t>Windows.h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&gt;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B0F0E-6DA2-FB5B-FB41-EEFFF7BD8462}"/>
              </a:ext>
            </a:extLst>
          </p:cNvPr>
          <p:cNvSpPr txBox="1"/>
          <p:nvPr/>
        </p:nvSpPr>
        <p:spPr>
          <a:xfrm>
            <a:off x="2799772" y="3180336"/>
            <a:ext cx="35444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#include &lt;</a:t>
            </a:r>
            <a:r>
              <a:rPr lang="en" sz="1600" b="1" err="1">
                <a:solidFill>
                  <a:srgbClr val="188038"/>
                </a:solidFill>
                <a:latin typeface="Roboto Mono"/>
                <a:ea typeface="Roboto Mono"/>
              </a:rPr>
              <a:t>mmsystem.h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&gt;</a:t>
            </a:r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22785-A5EE-9179-6D77-6717E0502649}"/>
              </a:ext>
            </a:extLst>
          </p:cNvPr>
          <p:cNvSpPr txBox="1"/>
          <p:nvPr/>
        </p:nvSpPr>
        <p:spPr>
          <a:xfrm>
            <a:off x="2869045" y="3520926"/>
            <a:ext cx="35444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#include "</a:t>
            </a:r>
            <a:r>
              <a:rPr lang="en" sz="1600" b="1" err="1">
                <a:solidFill>
                  <a:srgbClr val="188038"/>
                </a:solidFill>
                <a:latin typeface="Roboto Mono"/>
                <a:ea typeface="Roboto Mono"/>
              </a:rPr>
              <a:t>portaudio.h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"</a:t>
            </a:r>
            <a:endParaRPr lang="en" sz="1600" b="1">
              <a:latin typeface="Roboto Mono"/>
              <a:ea typeface="Roboto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3793D-7DD6-120A-C93E-401280735D64}"/>
              </a:ext>
            </a:extLst>
          </p:cNvPr>
          <p:cNvSpPr txBox="1"/>
          <p:nvPr/>
        </p:nvSpPr>
        <p:spPr>
          <a:xfrm>
            <a:off x="2303317" y="3861517"/>
            <a:ext cx="453736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</a:rPr>
              <a:t>#pragma comment(lib, "winmm.lib")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73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72F3EDE-19D4-FBCD-A97E-CC3EDA5A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9E53838-1794-55D7-852E-0BA3B31FC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063100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700" b="1"/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3309860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1D8936B-F1B9-90BB-0B86-10414C0B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8D93EA90-5B88-D6E0-E7BE-7FA2F5A77B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62009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400" b="1"/>
              <a:t>data structures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ADB1E-44AE-3693-3322-5B3C047C2102}"/>
              </a:ext>
            </a:extLst>
          </p:cNvPr>
          <p:cNvSpPr txBox="1"/>
          <p:nvPr/>
        </p:nvSpPr>
        <p:spPr>
          <a:xfrm>
            <a:off x="681182" y="1269999"/>
            <a:ext cx="1466272" cy="92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BB60C-3A3F-D5D7-4B00-F4BFB6EE505F}"/>
              </a:ext>
            </a:extLst>
          </p:cNvPr>
          <p:cNvSpPr txBox="1"/>
          <p:nvPr/>
        </p:nvSpPr>
        <p:spPr>
          <a:xfrm>
            <a:off x="1010227" y="1593274"/>
            <a:ext cx="7123545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500">
                <a:latin typeface="Fira Code"/>
                <a:ea typeface="Open Sans"/>
                <a:cs typeface="Open Sans"/>
              </a:rPr>
              <a:t>typedef </a:t>
            </a:r>
            <a:r>
              <a:rPr lang="en" sz="1500" err="1">
                <a:latin typeface="Fira Code"/>
                <a:ea typeface="Open Sans"/>
                <a:cs typeface="Open Sans"/>
              </a:rPr>
              <a:t>enum</a:t>
            </a:r>
            <a:r>
              <a:rPr lang="en" sz="1500">
                <a:latin typeface="Fira Code"/>
                <a:ea typeface="Open Sans"/>
                <a:cs typeface="Open Sans"/>
              </a:rPr>
              <a:t> { WAVE_SINE, WAVE_SQUARE, WAVE_SAW } Waveform;</a:t>
            </a:r>
            <a:endParaRPr lang="en-US">
              <a:latin typeface="Fira Code"/>
            </a:endParaRPr>
          </a:p>
        </p:txBody>
      </p:sp>
      <p:pic>
        <p:nvPicPr>
          <p:cNvPr id="5" name="Google Shape;82;p1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562E516-CD0F-E183-9C41-5E4BBCD5CE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1955" y="2248477"/>
            <a:ext cx="2057400" cy="152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8628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114C775-16CA-3753-E166-91CE5072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FAAAA65-83A0-DC9F-7CFF-96BD4A179A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62009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700" b="1"/>
              <a:t>data structures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A562B-F61D-A74D-4552-2F06B3149D55}"/>
              </a:ext>
            </a:extLst>
          </p:cNvPr>
          <p:cNvSpPr txBox="1"/>
          <p:nvPr/>
        </p:nvSpPr>
        <p:spPr>
          <a:xfrm>
            <a:off x="681182" y="1269999"/>
            <a:ext cx="1466272" cy="92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0481B-09AC-D88A-6063-A6EE3BF64BD2}"/>
              </a:ext>
            </a:extLst>
          </p:cNvPr>
          <p:cNvSpPr txBox="1"/>
          <p:nvPr/>
        </p:nvSpPr>
        <p:spPr>
          <a:xfrm>
            <a:off x="1010227" y="1593274"/>
            <a:ext cx="7123545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500">
                <a:latin typeface="Open Sans"/>
                <a:ea typeface="Open Sans"/>
              </a:rPr>
              <a:t>Synth structure for defining waveforms (</a:t>
            </a:r>
            <a:r>
              <a:rPr lang="en" sz="1500" err="1">
                <a:latin typeface="Open Sans"/>
                <a:ea typeface="Open Sans"/>
              </a:rPr>
              <a:t>kinda</a:t>
            </a:r>
            <a:r>
              <a:rPr lang="en" sz="1500">
                <a:latin typeface="Open Sans"/>
                <a:ea typeface="Open Sans"/>
              </a:rPr>
              <a:t> important)</a:t>
            </a:r>
            <a:endParaRPr lang="en-US">
              <a:latin typeface="Open Sans"/>
            </a:endParaRPr>
          </a:p>
        </p:txBody>
      </p:sp>
      <p:pic>
        <p:nvPicPr>
          <p:cNvPr id="6" name="Google Shape;89;p1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2F5E187-725A-55FB-1BBC-E03DEEBC54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547" y="2082273"/>
            <a:ext cx="2504025" cy="2529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1667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F5B26A0-D5E2-475A-4A98-8792FC15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0F87CC0F-86EC-A8C7-4795-CDF7C2A8D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063100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700" b="1"/>
              <a:t>note handling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417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C1BD50B-5CCD-3FFF-9109-0CE05B23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39C2CC3-ED4C-B9D1-F282-C2C49316E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400555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400" b="1"/>
              <a:t>note handling</a:t>
            </a:r>
            <a:endParaRPr lang="en-US" sz="4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4007D-AFA5-E134-A86C-9FF2F0158E24}"/>
              </a:ext>
            </a:extLst>
          </p:cNvPr>
          <p:cNvSpPr txBox="1"/>
          <p:nvPr/>
        </p:nvSpPr>
        <p:spPr>
          <a:xfrm>
            <a:off x="2178725" y="2338515"/>
            <a:ext cx="47913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2400" i="1">
                <a:latin typeface="Baskerville Old Face"/>
                <a:ea typeface="Open Sans"/>
                <a:cs typeface="Open Sans"/>
              </a:rPr>
              <a:t>"equal temperament tuning"</a:t>
            </a:r>
            <a:endParaRPr lang="en-US" sz="2400" i="1">
              <a:latin typeface="Baskerville Old Face"/>
            </a:endParaRPr>
          </a:p>
        </p:txBody>
      </p:sp>
    </p:spTree>
    <p:extLst>
      <p:ext uri="{BB962C8B-B14F-4D97-AF65-F5344CB8AC3E}">
        <p14:creationId xmlns:p14="http://schemas.microsoft.com/office/powerpoint/2010/main" val="3450544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6977ADA-4049-65BE-34D3-6F45D413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C0F8CEA-73E5-0B8A-1038-4DF5DBE99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400555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400" b="1"/>
              <a:t>note handling</a:t>
            </a:r>
            <a:endParaRPr lang="en-US" sz="4400"/>
          </a:p>
        </p:txBody>
      </p:sp>
      <p:sp>
        <p:nvSpPr>
          <p:cNvPr id="4" name="Google Shape;96;p19">
            <a:extLst>
              <a:ext uri="{FF2B5EF4-FFF2-40B4-BE49-F238E27FC236}">
                <a16:creationId xmlns:a16="http://schemas.microsoft.com/office/drawing/2014/main" id="{F6C0A803-40BF-E1EA-7BA9-878649728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1706" y="1828436"/>
            <a:ext cx="4361400" cy="1415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err="1">
                <a:solidFill>
                  <a:srgbClr val="434343"/>
                </a:solidFill>
                <a:latin typeface="Fira Code"/>
              </a:rPr>
              <a:t>midiNoteToFreq</a:t>
            </a:r>
            <a:r>
              <a:rPr lang="en" sz="1300">
                <a:solidFill>
                  <a:srgbClr val="434343"/>
                </a:solidFill>
              </a:rPr>
              <a:t> turns a </a:t>
            </a:r>
            <a:r>
              <a:rPr lang="en" sz="1300" b="1">
                <a:solidFill>
                  <a:srgbClr val="434343"/>
                </a:solidFill>
              </a:rPr>
              <a:t>MIDI note number</a:t>
            </a:r>
            <a:r>
              <a:rPr lang="en" sz="1300">
                <a:solidFill>
                  <a:srgbClr val="434343"/>
                </a:solidFill>
              </a:rPr>
              <a:t> into a real sound </a:t>
            </a:r>
            <a:r>
              <a:rPr lang="en" sz="1300" b="1">
                <a:solidFill>
                  <a:srgbClr val="434343"/>
                </a:solidFill>
              </a:rPr>
              <a:t>frequency.</a:t>
            </a:r>
            <a:endParaRPr lang="en" sz="1300">
              <a:solidFill>
                <a:srgbClr val="434343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" sz="1300" b="1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note_on</a:t>
            </a:r>
            <a:r>
              <a:rPr lang="en" sz="13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300" b="1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freq</a:t>
            </a:r>
            <a:r>
              <a:rPr lang="en" sz="13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" sz="1300">
                <a:solidFill>
                  <a:srgbClr val="434343"/>
                </a:solidFill>
              </a:rPr>
              <a:t>starts playing a note at that frequency, sets </a:t>
            </a:r>
            <a:r>
              <a:rPr lang="en" sz="13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active = 1</a:t>
            </a:r>
            <a:endParaRPr sz="1300">
              <a:solidFill>
                <a:srgbClr val="434343"/>
              </a:solidFill>
              <a:latin typeface="Roboto Mono"/>
              <a:ea typeface="Roboto Mono"/>
              <a:cs typeface="Roboto Mono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" sz="1300" b="1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note_off</a:t>
            </a:r>
            <a:r>
              <a:rPr lang="en" sz="13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300" b="1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freq</a:t>
            </a:r>
            <a:r>
              <a:rPr lang="en" sz="13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" sz="1300">
                <a:solidFill>
                  <a:srgbClr val="434343"/>
                </a:solidFill>
              </a:rPr>
              <a:t>stops playing it, sets </a:t>
            </a:r>
            <a:r>
              <a:rPr lang="en" sz="13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active = 0</a:t>
            </a:r>
            <a:br>
              <a:rPr lang="en" sz="1300">
                <a:latin typeface="Roboto Mono"/>
                <a:ea typeface="Roboto Mono"/>
                <a:cs typeface="Roboto Mono"/>
              </a:rPr>
            </a:br>
            <a:endParaRPr sz="1300">
              <a:solidFill>
                <a:srgbClr val="434343"/>
              </a:solidFill>
              <a:latin typeface="Roboto Mono"/>
              <a:ea typeface="Roboto Mono"/>
              <a:cs typeface="Roboto Mono"/>
            </a:endParaRPr>
          </a:p>
        </p:txBody>
      </p:sp>
      <p:pic>
        <p:nvPicPr>
          <p:cNvPr id="6" name="Google Shape;97;p19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BF83395F-4111-1CE0-BE27-11BD073665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525" y="1942447"/>
            <a:ext cx="2963950" cy="43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8;p19" descr="A black background with red and white text&#10;&#10;AI-generated content may be incorrect.">
            <a:extLst>
              <a:ext uri="{FF2B5EF4-FFF2-40B4-BE49-F238E27FC236}">
                <a16:creationId xmlns:a16="http://schemas.microsoft.com/office/drawing/2014/main" id="{F1F69A95-B153-DF1C-84FA-4EBBF48C51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401"/>
          <a:stretch/>
        </p:blipFill>
        <p:spPr>
          <a:xfrm>
            <a:off x="5536291" y="2998539"/>
            <a:ext cx="2679500" cy="792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8900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D9992DE-C58E-FC9F-10AD-12BF0190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0B7BA86C-FBF9-D315-E94E-E352E67E50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063100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700" b="1"/>
              <a:t>MIDI callback</a:t>
            </a:r>
          </a:p>
        </p:txBody>
      </p:sp>
    </p:spTree>
    <p:extLst>
      <p:ext uri="{BB962C8B-B14F-4D97-AF65-F5344CB8AC3E}">
        <p14:creationId xmlns:p14="http://schemas.microsoft.com/office/powerpoint/2010/main" val="41254241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20E996A-C472-EEBA-95B4-02E1760A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2BDFB3DA-E0C9-0E16-9013-78BFCBE5E8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775416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400" b="1"/>
              <a:t>MIDI callback</a:t>
            </a:r>
          </a:p>
        </p:txBody>
      </p:sp>
      <p:sp>
        <p:nvSpPr>
          <p:cNvPr id="6" name="Google Shape;105;p20">
            <a:extLst>
              <a:ext uri="{FF2B5EF4-FFF2-40B4-BE49-F238E27FC236}">
                <a16:creationId xmlns:a16="http://schemas.microsoft.com/office/drawing/2014/main" id="{E0A120A4-C2A2-23E9-FD3F-2BA8FAD5F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9573" y="1796315"/>
            <a:ext cx="4839600" cy="2568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300">
              <a:solidFill>
                <a:srgbClr val="434343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434343"/>
                </a:solidFill>
              </a:rPr>
              <a:t>Checks the message to see if it’s a </a:t>
            </a:r>
            <a:r>
              <a:rPr lang="en" sz="1300" b="1">
                <a:solidFill>
                  <a:srgbClr val="434343"/>
                </a:solidFill>
              </a:rPr>
              <a:t>Note On</a:t>
            </a:r>
            <a:r>
              <a:rPr lang="en" sz="1300">
                <a:solidFill>
                  <a:srgbClr val="434343"/>
                </a:solidFill>
              </a:rPr>
              <a:t> or </a:t>
            </a:r>
            <a:r>
              <a:rPr lang="en" sz="1300" b="1">
                <a:solidFill>
                  <a:srgbClr val="434343"/>
                </a:solidFill>
              </a:rPr>
              <a:t>Note Off</a:t>
            </a:r>
            <a:endParaRPr sz="1300" b="1">
              <a:solidFill>
                <a:srgbClr val="434343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Work Sans"/>
              <a:buChar char="●"/>
            </a:pPr>
            <a:r>
              <a:rPr lang="en" sz="1300">
                <a:solidFill>
                  <a:srgbClr val="434343"/>
                </a:solidFill>
              </a:rPr>
              <a:t>Then it calls:</a:t>
            </a:r>
            <a:br>
              <a:rPr lang="en" sz="1300"/>
            </a:br>
            <a:endParaRPr sz="1300">
              <a:solidFill>
                <a:srgbClr val="434343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○"/>
            </a:pPr>
            <a:r>
              <a:rPr lang="en" sz="1300" err="1">
                <a:solidFill>
                  <a:srgbClr val="188038"/>
                </a:solidFill>
                <a:latin typeface="Fira Code"/>
                <a:ea typeface="Fira Code"/>
                <a:cs typeface="Fira Code"/>
                <a:sym typeface="Fira Code"/>
              </a:rPr>
              <a:t>note_on</a:t>
            </a:r>
            <a:r>
              <a:rPr lang="en" sz="1300">
                <a:solidFill>
                  <a:srgbClr val="188038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n" sz="1300">
                <a:solidFill>
                  <a:srgbClr val="434343"/>
                </a:solidFill>
              </a:rPr>
              <a:t> – if the note should start playing</a:t>
            </a:r>
            <a:br>
              <a:rPr lang="en" sz="1300"/>
            </a:br>
            <a:endParaRPr sz="1300">
              <a:solidFill>
                <a:srgbClr val="434343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○"/>
            </a:pPr>
            <a:r>
              <a:rPr lang="en" sz="1300" err="1">
                <a:solidFill>
                  <a:srgbClr val="188038"/>
                </a:solidFill>
                <a:latin typeface="Fira Code"/>
                <a:ea typeface="Fira Code"/>
                <a:cs typeface="Fira Code"/>
                <a:sym typeface="Fira Code"/>
              </a:rPr>
              <a:t>note_off</a:t>
            </a:r>
            <a:r>
              <a:rPr lang="en" sz="1300">
                <a:solidFill>
                  <a:srgbClr val="188038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n" sz="1300">
                <a:solidFill>
                  <a:srgbClr val="434343"/>
                </a:solidFill>
              </a:rPr>
              <a:t> – if the note should stop playing.</a:t>
            </a:r>
            <a:endParaRPr sz="1300">
              <a:solidFill>
                <a:srgbClr val="434343"/>
              </a:solidFill>
            </a:endParaRPr>
          </a:p>
        </p:txBody>
      </p:sp>
      <p:pic>
        <p:nvPicPr>
          <p:cNvPr id="8" name="Google Shape;106;p20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1328E99B-3AD4-9EC7-88E8-05C9B5D8B7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630" y="2637090"/>
            <a:ext cx="2831325" cy="448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0648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A857ED1-51FF-59A4-3CF7-15BBAB46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1283CA7-DA49-CB41-FCB9-394B58D5E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063100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700" b="1"/>
              <a:t>waveform generator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386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0EAEE41-C574-DF44-E1DD-04095448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4EB0295-212E-EEE8-5F81-D4EC9A409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616265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700" b="1"/>
              <a:t>waveform generator</a:t>
            </a:r>
            <a:endParaRPr lang="en-US" sz="4700"/>
          </a:p>
        </p:txBody>
      </p:sp>
      <p:pic>
        <p:nvPicPr>
          <p:cNvPr id="3" name="Google Shape;114;p21" descr="A black and white logo&#10;&#10;AI-generated content may be incorrect.">
            <a:extLst>
              <a:ext uri="{FF2B5EF4-FFF2-40B4-BE49-F238E27FC236}">
                <a16:creationId xmlns:a16="http://schemas.microsoft.com/office/drawing/2014/main" id="{EEFF09E6-0FE5-A52B-38B3-DD185CF535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350" y="1998689"/>
            <a:ext cx="64453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C166A-2C1C-2C44-6FCE-6F1196C5F1D3}"/>
              </a:ext>
            </a:extLst>
          </p:cNvPr>
          <p:cNvSpPr txBox="1"/>
          <p:nvPr/>
        </p:nvSpPr>
        <p:spPr>
          <a:xfrm>
            <a:off x="2430684" y="2937076"/>
            <a:ext cx="1244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100" b="1">
                <a:solidFill>
                  <a:srgbClr val="188038"/>
                </a:solidFill>
                <a:latin typeface="Open Sans"/>
                <a:ea typeface="Open Sans"/>
                <a:cs typeface="Open Sans"/>
              </a:rPr>
              <a:t>frequency</a:t>
            </a:r>
            <a:r>
              <a:rPr lang="en" sz="1100">
                <a:solidFill>
                  <a:srgbClr val="434343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37627-CB76-E6B1-6659-27F91B62001D}"/>
              </a:ext>
            </a:extLst>
          </p:cNvPr>
          <p:cNvSpPr txBox="1"/>
          <p:nvPr/>
        </p:nvSpPr>
        <p:spPr>
          <a:xfrm>
            <a:off x="2430683" y="3240911"/>
            <a:ext cx="1244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100" b="1">
                <a:solidFill>
                  <a:srgbClr val="188038"/>
                </a:solidFill>
                <a:latin typeface="Open Sans"/>
                <a:ea typeface="Open Sans"/>
                <a:cs typeface="Open Sans"/>
              </a:rPr>
              <a:t>time</a:t>
            </a:r>
            <a:r>
              <a:rPr lang="en" sz="1100">
                <a:solidFill>
                  <a:srgbClr val="434343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19D1B-CC09-AC1D-8FE2-DE2AAE95358E}"/>
              </a:ext>
            </a:extLst>
          </p:cNvPr>
          <p:cNvSpPr txBox="1"/>
          <p:nvPr/>
        </p:nvSpPr>
        <p:spPr>
          <a:xfrm>
            <a:off x="2430683" y="3551981"/>
            <a:ext cx="1244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100" b="1">
                <a:solidFill>
                  <a:srgbClr val="188038"/>
                </a:solidFill>
                <a:latin typeface="Open Sans"/>
                <a:ea typeface="Open Sans"/>
                <a:cs typeface="Open Sans"/>
              </a:rPr>
              <a:t>waveform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250E3-7553-8C0D-3AC5-A43A81328BAF}"/>
              </a:ext>
            </a:extLst>
          </p:cNvPr>
          <p:cNvSpPr txBox="1"/>
          <p:nvPr/>
        </p:nvSpPr>
        <p:spPr>
          <a:xfrm>
            <a:off x="5252012" y="3551980"/>
            <a:ext cx="1244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100" b="1">
                <a:solidFill>
                  <a:srgbClr val="188038"/>
                </a:solidFill>
                <a:latin typeface="Open Sans"/>
                <a:ea typeface="Open Sans"/>
                <a:cs typeface="Open Sans"/>
              </a:rPr>
              <a:t>sawtooth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BB1B4-D0CA-872C-FD31-EC7BC8FE61E8}"/>
              </a:ext>
            </a:extLst>
          </p:cNvPr>
          <p:cNvSpPr txBox="1"/>
          <p:nvPr/>
        </p:nvSpPr>
        <p:spPr>
          <a:xfrm>
            <a:off x="5252013" y="3240911"/>
            <a:ext cx="1244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100" b="1">
                <a:solidFill>
                  <a:srgbClr val="188038"/>
                </a:solidFill>
                <a:latin typeface="Open Sans"/>
                <a:ea typeface="Open Sans"/>
                <a:cs typeface="Open Sans"/>
              </a:rPr>
              <a:t>square</a:t>
            </a:r>
            <a:endParaRPr lang="en" sz="1100">
              <a:solidFill>
                <a:srgbClr val="43434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35223-FCE9-FAAC-CD14-B2C1F0FF1B91}"/>
              </a:ext>
            </a:extLst>
          </p:cNvPr>
          <p:cNvSpPr txBox="1"/>
          <p:nvPr/>
        </p:nvSpPr>
        <p:spPr>
          <a:xfrm>
            <a:off x="5252012" y="2937075"/>
            <a:ext cx="1244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1100" b="1">
                <a:solidFill>
                  <a:srgbClr val="188038"/>
                </a:solidFill>
                <a:latin typeface="Open Sans"/>
                <a:ea typeface="Open Sans"/>
                <a:cs typeface="Open Sans"/>
              </a:rPr>
              <a:t>sine</a:t>
            </a:r>
            <a:r>
              <a:rPr lang="en" sz="1100">
                <a:solidFill>
                  <a:srgbClr val="434343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82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b="1"/>
              <a:t>Recording to WAV</a:t>
            </a:r>
            <a:endParaRPr lang="en-US" sz="4700" b="1"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437049" y="2574368"/>
            <a:ext cx="2266544" cy="2025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" sz="1100">
                <a:solidFill>
                  <a:srgbClr val="434343"/>
                </a:solidFill>
              </a:rPr>
              <a:t>saves files in this format:</a:t>
            </a:r>
            <a:endParaRPr lang="en-US" sz="1100">
              <a:solidFill>
                <a:srgbClr val="434343"/>
              </a:solidFill>
            </a:endParaRPr>
          </a:p>
          <a:p>
            <a:pPr marL="457200" lvl="0" indent="-29845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recording1.wav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>
            <a:pPr marL="457200" lvl="0" indent="-298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recording2.wav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>
            <a:pPr indent="-298450" algn="ctr"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Recording3.wav</a:t>
            </a:r>
            <a:endParaRPr lang="en" sz="1100">
              <a:solidFill>
                <a:srgbClr val="595959"/>
              </a:solidFill>
              <a:latin typeface="Arial"/>
              <a:cs typeface="Arial"/>
            </a:endParaRPr>
          </a:p>
          <a:p>
            <a:pPr marL="158750" indent="0" algn="ctr">
              <a:lnSpc>
                <a:spcPct val="114999"/>
              </a:lnSpc>
              <a:buClr>
                <a:schemeClr val="dk1"/>
              </a:buClr>
              <a:buSzPts val="1100"/>
              <a:buNone/>
            </a:pPr>
            <a:endParaRPr lang="en" sz="1100">
              <a:solidFill>
                <a:srgbClr val="434343"/>
              </a:solidFill>
            </a:endParaRPr>
          </a:p>
          <a:p>
            <a:pPr marL="15875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rgbClr val="434343"/>
                </a:solidFill>
              </a:rPr>
              <a:t>and so on.</a:t>
            </a:r>
            <a:endParaRPr lang="en" sz="1100">
              <a:latin typeface="Arial"/>
              <a:ea typeface="Arial"/>
              <a:cs typeface="Arial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>
              <a:solidFill>
                <a:srgbClr val="434343"/>
              </a:solidFill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121" y="1632681"/>
            <a:ext cx="5918225" cy="4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784690"/>
            <a:ext cx="8520600" cy="1004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b="1" err="1"/>
              <a:t>PortAudio</a:t>
            </a:r>
            <a:r>
              <a:rPr lang="en" sz="4700" b="1"/>
              <a:t> Callback</a:t>
            </a:r>
            <a:endParaRPr lang="en-US" sz="4700" b="1"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584" y="2330443"/>
            <a:ext cx="6706817" cy="4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35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/>
              <a:t>keyboard interaction</a:t>
            </a:r>
            <a:endParaRPr lang="en-US" sz="4400" b="1"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2841117" y="2485976"/>
            <a:ext cx="3461767" cy="2093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71450" indent="-17145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Monitors key states using </a:t>
            </a:r>
            <a:r>
              <a:rPr lang="en" sz="1000" i="1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GetAsyncKeyState</a:t>
            </a:r>
            <a:r>
              <a:rPr lang="en" sz="1000" i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endParaRPr lang="en-US" sz="1000" i="1">
              <a:solidFill>
                <a:srgbClr val="434343"/>
              </a:solidFill>
              <a:latin typeface="Arial"/>
              <a:ea typeface="Roboto Mono"/>
              <a:cs typeface="Arial"/>
            </a:endParaRPr>
          </a:p>
          <a:p>
            <a:pPr marL="171450" indent="-17145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Plays notes based on keys A–K and W–U.</a:t>
            </a:r>
            <a:endParaRPr lang="en" sz="1000" i="1">
              <a:solidFill>
                <a:srgbClr val="434343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Adjusts volume (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lang="en" sz="1000" i="1">
              <a:solidFill>
                <a:srgbClr val="434343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Changes waveform (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Z</a:t>
            </a: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lang="en" sz="1000" i="1">
              <a:solidFill>
                <a:srgbClr val="434343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Shifts octaves (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↑</a:t>
            </a: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↓</a:t>
            </a:r>
            <a:r>
              <a:rPr lang="en" sz="1000" i="1">
                <a:solidFill>
                  <a:srgbClr val="434343"/>
                </a:solidFill>
                <a:latin typeface="Arial"/>
                <a:ea typeface="Roboto Mono"/>
                <a:cs typeface="Arial"/>
                <a:sym typeface="Arial"/>
              </a:rPr>
              <a:t>).</a:t>
            </a:r>
            <a:endParaRPr lang="en" sz="1000" i="1">
              <a:solidFill>
                <a:srgbClr val="434343"/>
              </a:solidFill>
              <a:latin typeface="Arial"/>
              <a:ea typeface="Roboto Mono"/>
              <a:cs typeface="Arial"/>
            </a:endParaRPr>
          </a:p>
          <a:p>
            <a:pPr marL="171450" indent="-17145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Toggles recording (</a:t>
            </a:r>
            <a:r>
              <a:rPr lang="en" sz="1000" i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 sz="1000" i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000" i="1">
              <a:solidFill>
                <a:srgbClr val="434343"/>
              </a:solidFill>
              <a:latin typeface="Arial"/>
              <a:ea typeface="Arial"/>
              <a:cs typeface="Arial"/>
            </a:endParaRPr>
          </a:p>
          <a:p>
            <a:pPr marL="0" lvl="0" indent="0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rgbClr val="434343"/>
              </a:solidFill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642" y="1640483"/>
            <a:ext cx="5336700" cy="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1917DF8-F925-746F-D770-5571DD44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D793D7F-67F7-ACBD-B7F9-0DDF27E424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2063100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400" b="1" err="1"/>
              <a:t>GetFrequencyForKey</a:t>
            </a:r>
            <a:endParaRPr lang="en" sz="4400" b="1"/>
          </a:p>
        </p:txBody>
      </p:sp>
      <p:sp>
        <p:nvSpPr>
          <p:cNvPr id="4" name="Google Shape;145;p25">
            <a:extLst>
              <a:ext uri="{FF2B5EF4-FFF2-40B4-BE49-F238E27FC236}">
                <a16:creationId xmlns:a16="http://schemas.microsoft.com/office/drawing/2014/main" id="{732A995D-C770-8CC0-C82E-8EADBAEF7EB0}"/>
              </a:ext>
            </a:extLst>
          </p:cNvPr>
          <p:cNvSpPr txBox="1">
            <a:spLocks noGrp="1"/>
          </p:cNvSpPr>
          <p:nvPr/>
        </p:nvSpPr>
        <p:spPr>
          <a:xfrm>
            <a:off x="2274210" y="2721404"/>
            <a:ext cx="4589700" cy="357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lnSpc>
                <a:spcPct val="95000"/>
              </a:lnSpc>
              <a:spcBef>
                <a:spcPts val="1400"/>
              </a:spcBef>
              <a:buClr>
                <a:schemeClr val="dk1"/>
              </a:buClr>
              <a:buSzPts val="1018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how your computer keyboard becomes a piano</a:t>
            </a:r>
            <a:endParaRPr lang="en-US" sz="1200"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0133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E134491-FE50-0EB3-57DC-A32AEC98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9D6951D-C942-4B12-0532-7885D83AE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105" y="585826"/>
            <a:ext cx="784179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4000" b="1" dirty="0" err="1"/>
              <a:t>GetFrequencyForKey</a:t>
            </a:r>
            <a:endParaRPr lang="en" sz="4000" b="1"/>
          </a:p>
        </p:txBody>
      </p:sp>
      <p:sp>
        <p:nvSpPr>
          <p:cNvPr id="2" name="Google Shape;145;p25">
            <a:extLst>
              <a:ext uri="{FF2B5EF4-FFF2-40B4-BE49-F238E27FC236}">
                <a16:creationId xmlns:a16="http://schemas.microsoft.com/office/drawing/2014/main" id="{7682D152-4329-C0CD-1914-14818E3D5AAB}"/>
              </a:ext>
            </a:extLst>
          </p:cNvPr>
          <p:cNvSpPr txBox="1">
            <a:spLocks noGrp="1"/>
          </p:cNvSpPr>
          <p:nvPr/>
        </p:nvSpPr>
        <p:spPr>
          <a:xfrm>
            <a:off x="2284993" y="1109342"/>
            <a:ext cx="4589700" cy="357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lnSpc>
                <a:spcPct val="95000"/>
              </a:lnSpc>
              <a:spcBef>
                <a:spcPts val="1400"/>
              </a:spcBef>
              <a:buClr>
                <a:schemeClr val="dk1"/>
              </a:buClr>
              <a:buSzPts val="1018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how your computer keyboard becomes a piano</a:t>
            </a:r>
            <a:endParaRPr lang="en-US" sz="1200">
              <a:solidFill>
                <a:srgbClr val="434343"/>
              </a:solidFill>
            </a:endParaRPr>
          </a:p>
        </p:txBody>
      </p:sp>
      <p:pic>
        <p:nvPicPr>
          <p:cNvPr id="4" name="Google Shape;146;p25" descr="A black and white text&#10;&#10;AI-generated content may be incorrect.">
            <a:extLst>
              <a:ext uri="{FF2B5EF4-FFF2-40B4-BE49-F238E27FC236}">
                <a16:creationId xmlns:a16="http://schemas.microsoft.com/office/drawing/2014/main" id="{FB8691AB-A521-F04B-9B4A-8D3FA52CF2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310" y="2354453"/>
            <a:ext cx="4069450" cy="43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4637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title"/>
          </p:nvPr>
        </p:nvSpPr>
        <p:spPr>
          <a:xfrm>
            <a:off x="311700" y="199861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/>
              <a:t>main function - </a:t>
            </a:r>
            <a:r>
              <a:rPr lang="en" sz="4400">
                <a:solidFill>
                  <a:srgbClr val="434343"/>
                </a:solidFill>
              </a:rPr>
              <a:t>int main()</a:t>
            </a:r>
            <a:endParaRPr lang="en-US" sz="4400">
              <a:solidFill>
                <a:srgbClr val="43434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2746F472-748A-3718-C90D-5E7BDBA8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>
            <a:extLst>
              <a:ext uri="{FF2B5EF4-FFF2-40B4-BE49-F238E27FC236}">
                <a16:creationId xmlns:a16="http://schemas.microsoft.com/office/drawing/2014/main" id="{78A8C284-EBE6-C8BA-373F-039ACD775D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7525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/>
              <a:t>Main Function - </a:t>
            </a:r>
            <a:r>
              <a:rPr lang="en" sz="4000">
                <a:solidFill>
                  <a:srgbClr val="434343"/>
                </a:solidFill>
              </a:rPr>
              <a:t>int main()</a:t>
            </a:r>
            <a:endParaRPr lang="en-US" sz="4000">
              <a:solidFill>
                <a:srgbClr val="434343"/>
              </a:solidFill>
            </a:endParaRPr>
          </a:p>
        </p:txBody>
      </p:sp>
      <p:sp>
        <p:nvSpPr>
          <p:cNvPr id="3" name="Google Shape;153;p26">
            <a:extLst>
              <a:ext uri="{FF2B5EF4-FFF2-40B4-BE49-F238E27FC236}">
                <a16:creationId xmlns:a16="http://schemas.microsoft.com/office/drawing/2014/main" id="{CC431F71-2EE0-C1BF-B6B6-6EC414E0B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388" y="1767108"/>
            <a:ext cx="4441263" cy="2017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000" b="1">
                <a:solidFill>
                  <a:srgbClr val="434343"/>
                </a:solidFill>
              </a:rPr>
              <a:t> </a:t>
            </a:r>
            <a:r>
              <a:rPr lang="en" sz="850" b="1">
                <a:solidFill>
                  <a:srgbClr val="434343"/>
                </a:solidFill>
              </a:rPr>
              <a:t>What It Does:</a:t>
            </a:r>
            <a:endParaRPr lang="en-US" sz="850" b="1">
              <a:solidFill>
                <a:srgbClr val="434343"/>
              </a:solidFill>
            </a:endParaRPr>
          </a:p>
          <a:p>
            <a:pPr marL="457200" lvl="0" indent="-28257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Work Sans"/>
              <a:buAutoNum type="arabicPeriod"/>
            </a:pPr>
            <a:r>
              <a:rPr lang="en" sz="850" b="1">
                <a:solidFill>
                  <a:srgbClr val="434343"/>
                </a:solidFill>
              </a:rPr>
              <a:t>Starts things up:</a:t>
            </a:r>
            <a:br>
              <a:rPr lang="en" sz="850" b="1"/>
            </a:br>
            <a:endParaRPr sz="850" b="1">
              <a:solidFill>
                <a:srgbClr val="434343"/>
              </a:solidFill>
            </a:endParaRPr>
          </a:p>
          <a:p>
            <a:pPr marL="914400" lvl="1" indent="-282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lang="en" sz="850">
                <a:solidFill>
                  <a:srgbClr val="434343"/>
                </a:solidFill>
              </a:rPr>
              <a:t>Initializes </a:t>
            </a:r>
            <a:r>
              <a:rPr lang="en" sz="850" b="1" err="1">
                <a:solidFill>
                  <a:srgbClr val="434343"/>
                </a:solidFill>
              </a:rPr>
              <a:t>PortAudio</a:t>
            </a:r>
            <a:r>
              <a:rPr lang="en" sz="850">
                <a:solidFill>
                  <a:srgbClr val="434343"/>
                </a:solidFill>
              </a:rPr>
              <a:t> (for sound output )</a:t>
            </a:r>
            <a:br>
              <a:rPr lang="en" sz="850"/>
            </a:br>
            <a:endParaRPr sz="850">
              <a:solidFill>
                <a:srgbClr val="434343"/>
              </a:solidFill>
            </a:endParaRPr>
          </a:p>
          <a:p>
            <a:pPr marL="914400" lvl="1" indent="-282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lang="en" sz="850">
                <a:solidFill>
                  <a:srgbClr val="434343"/>
                </a:solidFill>
              </a:rPr>
              <a:t>Sets up </a:t>
            </a:r>
            <a:r>
              <a:rPr lang="en" sz="850" b="1">
                <a:solidFill>
                  <a:srgbClr val="434343"/>
                </a:solidFill>
              </a:rPr>
              <a:t>MIDI input</a:t>
            </a:r>
            <a:r>
              <a:rPr lang="en" sz="850">
                <a:solidFill>
                  <a:srgbClr val="434343"/>
                </a:solidFill>
              </a:rPr>
              <a:t> (to listen to your keyboard/MIDI controller )</a:t>
            </a:r>
            <a:br>
              <a:rPr lang="en" sz="850"/>
            </a:br>
            <a:endParaRPr sz="850">
              <a:solidFill>
                <a:srgbClr val="434343"/>
              </a:solidFill>
            </a:endParaRPr>
          </a:p>
          <a:p>
            <a:pPr marL="457200" lvl="0" indent="-282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Work Sans"/>
              <a:buAutoNum type="arabicPeriod"/>
            </a:pPr>
            <a:r>
              <a:rPr lang="en" sz="850" b="1">
                <a:solidFill>
                  <a:srgbClr val="434343"/>
                </a:solidFill>
              </a:rPr>
              <a:t>Begins audio playback:</a:t>
            </a:r>
            <a:br>
              <a:rPr lang="en" sz="850" b="1"/>
            </a:br>
            <a:endParaRPr sz="850" b="1">
              <a:solidFill>
                <a:srgbClr val="434343"/>
              </a:solidFill>
            </a:endParaRPr>
          </a:p>
          <a:p>
            <a:pPr marL="914400" lvl="1" indent="-282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○"/>
            </a:pPr>
            <a:r>
              <a:rPr lang="en" sz="850">
                <a:solidFill>
                  <a:srgbClr val="434343"/>
                </a:solidFill>
              </a:rPr>
              <a:t>Starts the </a:t>
            </a:r>
            <a:r>
              <a:rPr lang="en" sz="850" b="1">
                <a:solidFill>
                  <a:srgbClr val="434343"/>
                </a:solidFill>
              </a:rPr>
              <a:t>audio stream</a:t>
            </a:r>
            <a:br>
              <a:rPr lang="en" sz="850" b="1"/>
            </a:br>
            <a:endParaRPr sz="850" b="1">
              <a:solidFill>
                <a:srgbClr val="434343"/>
              </a:solidFill>
            </a:endParaRPr>
          </a:p>
          <a:p>
            <a:pPr marL="914400" lvl="1" indent="-282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Work Sans"/>
              <a:buChar char="○"/>
            </a:pPr>
            <a:r>
              <a:rPr lang="en" sz="850">
                <a:solidFill>
                  <a:srgbClr val="434343"/>
                </a:solidFill>
              </a:rPr>
              <a:t>Enters a loop to keep the synth running</a:t>
            </a:r>
            <a:br>
              <a:rPr lang="en" sz="850"/>
            </a:br>
            <a:endParaRPr sz="850">
              <a:solidFill>
                <a:srgbClr val="434343"/>
              </a:solidFill>
            </a:endParaRPr>
          </a:p>
          <a:p>
            <a:pPr marL="1746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None/>
            </a:pPr>
            <a:endParaRPr lang="en" sz="85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434343"/>
              </a:solidFill>
            </a:endParaRPr>
          </a:p>
        </p:txBody>
      </p:sp>
      <p:sp>
        <p:nvSpPr>
          <p:cNvPr id="5" name="Google Shape;153;p26">
            <a:extLst>
              <a:ext uri="{FF2B5EF4-FFF2-40B4-BE49-F238E27FC236}">
                <a16:creationId xmlns:a16="http://schemas.microsoft.com/office/drawing/2014/main" id="{D7E7E2EF-C5F3-0997-D6B6-02431CBF496A}"/>
              </a:ext>
            </a:extLst>
          </p:cNvPr>
          <p:cNvSpPr txBox="1">
            <a:spLocks/>
          </p:cNvSpPr>
          <p:nvPr/>
        </p:nvSpPr>
        <p:spPr>
          <a:xfrm>
            <a:off x="4464600" y="1590626"/>
            <a:ext cx="4473612" cy="219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SzPct val="84615"/>
              <a:buFont typeface="Arial"/>
              <a:buNone/>
            </a:pPr>
            <a:br>
              <a:rPr lang="en-US" sz="850"/>
            </a:br>
            <a:endParaRPr lang="en-US" sz="850">
              <a:solidFill>
                <a:srgbClr val="434343"/>
              </a:solidFill>
            </a:endParaRPr>
          </a:p>
          <a:p>
            <a:pPr marL="174625" indent="0">
              <a:lnSpc>
                <a:spcPct val="100000"/>
              </a:lnSpc>
              <a:buClr>
                <a:srgbClr val="434343"/>
              </a:buClr>
              <a:buSzPct val="100000"/>
              <a:buNone/>
            </a:pPr>
            <a:r>
              <a:rPr lang="en-US" sz="850" b="1">
                <a:solidFill>
                  <a:srgbClr val="434343"/>
                </a:solidFill>
              </a:rPr>
              <a:t>3.  Main loop:</a:t>
            </a:r>
            <a:br>
              <a:rPr lang="en-US" sz="850" b="1"/>
            </a:br>
            <a:endParaRPr lang="en-US" sz="850" b="1">
              <a:solidFill>
                <a:srgbClr val="434343"/>
              </a:solidFill>
            </a:endParaRPr>
          </a:p>
          <a:p>
            <a:pPr lvl="1" indent="-282575">
              <a:lnSpc>
                <a:spcPct val="100000"/>
              </a:lnSpc>
              <a:buClr>
                <a:srgbClr val="434343"/>
              </a:buClr>
              <a:buSzPct val="100000"/>
              <a:buFont typeface="Arial"/>
              <a:buChar char="○"/>
            </a:pPr>
            <a:r>
              <a:rPr lang="en-US" sz="850" b="1">
                <a:solidFill>
                  <a:srgbClr val="434343"/>
                </a:solidFill>
              </a:rPr>
              <a:t>Watches for keyboard input</a:t>
            </a:r>
            <a:r>
              <a:rPr lang="en-US" sz="850">
                <a:solidFill>
                  <a:srgbClr val="434343"/>
                </a:solidFill>
              </a:rPr>
              <a:t> (like computer keys)</a:t>
            </a:r>
            <a:br>
              <a:rPr lang="en-US" sz="850"/>
            </a:br>
            <a:endParaRPr lang="en-US" sz="850">
              <a:solidFill>
                <a:srgbClr val="434343"/>
              </a:solidFill>
            </a:endParaRPr>
          </a:p>
          <a:p>
            <a:pPr lvl="1" indent="-282575">
              <a:lnSpc>
                <a:spcPct val="100000"/>
              </a:lnSpc>
              <a:buClr>
                <a:srgbClr val="434343"/>
              </a:buClr>
              <a:buSzPct val="100000"/>
              <a:buFont typeface="Arial"/>
              <a:buChar char="○"/>
            </a:pPr>
            <a:r>
              <a:rPr lang="en-US" sz="850">
                <a:solidFill>
                  <a:srgbClr val="434343"/>
                </a:solidFill>
              </a:rPr>
              <a:t>If you press </a:t>
            </a:r>
            <a:r>
              <a:rPr lang="en-US" sz="850" b="1">
                <a:solidFill>
                  <a:srgbClr val="434343"/>
                </a:solidFill>
              </a:rPr>
              <a:t>ESC</a:t>
            </a:r>
            <a:r>
              <a:rPr lang="en-US" sz="850">
                <a:solidFill>
                  <a:srgbClr val="434343"/>
                </a:solidFill>
              </a:rPr>
              <a:t>, it stops the loop and shuts everything down </a:t>
            </a:r>
            <a:br>
              <a:rPr lang="en-US" sz="850"/>
            </a:br>
            <a:endParaRPr lang="en-US" sz="850">
              <a:solidFill>
                <a:srgbClr val="434343"/>
              </a:solidFill>
            </a:endParaRPr>
          </a:p>
          <a:p>
            <a:pPr marL="174625" indent="0">
              <a:lnSpc>
                <a:spcPct val="100000"/>
              </a:lnSpc>
              <a:buClr>
                <a:srgbClr val="434343"/>
              </a:buClr>
              <a:buSzPct val="100000"/>
              <a:buNone/>
            </a:pPr>
            <a:r>
              <a:rPr lang="en-US" sz="850" b="1">
                <a:solidFill>
                  <a:srgbClr val="434343"/>
                </a:solidFill>
              </a:rPr>
              <a:t>4.  When you're done:</a:t>
            </a:r>
            <a:br>
              <a:rPr lang="en-US" sz="850" b="1"/>
            </a:br>
            <a:endParaRPr lang="en-US" sz="850" b="1">
              <a:solidFill>
                <a:srgbClr val="434343"/>
              </a:solidFill>
            </a:endParaRPr>
          </a:p>
          <a:p>
            <a:pPr lvl="1" indent="-282575">
              <a:lnSpc>
                <a:spcPct val="100000"/>
              </a:lnSpc>
              <a:buClr>
                <a:srgbClr val="434343"/>
              </a:buClr>
              <a:buSzPct val="100000"/>
              <a:buFont typeface="Work Sans"/>
              <a:buChar char="○"/>
            </a:pPr>
            <a:r>
              <a:rPr lang="en-US" sz="850">
                <a:solidFill>
                  <a:srgbClr val="434343"/>
                </a:solidFill>
              </a:rPr>
              <a:t>Closes MIDI + audio connections </a:t>
            </a:r>
            <a:br>
              <a:rPr lang="en-US" sz="850"/>
            </a:br>
            <a:endParaRPr lang="en-US" sz="850">
              <a:solidFill>
                <a:srgbClr val="434343"/>
              </a:solidFill>
            </a:endParaRPr>
          </a:p>
          <a:p>
            <a:pPr lvl="1" indent="-282575">
              <a:lnSpc>
                <a:spcPct val="100000"/>
              </a:lnSpc>
              <a:buClr>
                <a:srgbClr val="434343"/>
              </a:buClr>
              <a:buSzPct val="100000"/>
              <a:buFont typeface="Work Sans"/>
              <a:buChar char="○"/>
            </a:pPr>
            <a:r>
              <a:rPr lang="en-US" sz="850">
                <a:solidFill>
                  <a:srgbClr val="434343"/>
                </a:solidFill>
              </a:rPr>
              <a:t>Shuts down </a:t>
            </a:r>
            <a:r>
              <a:rPr lang="en-US" sz="850" err="1">
                <a:solidFill>
                  <a:srgbClr val="434343"/>
                </a:solidFill>
              </a:rPr>
              <a:t>PortAudio</a:t>
            </a:r>
            <a:br>
              <a:rPr lang="en-US" sz="850"/>
            </a:br>
            <a:endParaRPr lang="en-US" sz="850">
              <a:solidFill>
                <a:srgbClr val="434343"/>
              </a:solidFill>
            </a:endParaRPr>
          </a:p>
          <a:p>
            <a:pPr lvl="1" indent="-282575">
              <a:lnSpc>
                <a:spcPct val="100000"/>
              </a:lnSpc>
              <a:buClr>
                <a:srgbClr val="434343"/>
              </a:buClr>
              <a:buSzPct val="100000"/>
              <a:buFont typeface="Arial"/>
              <a:buChar char="○"/>
            </a:pPr>
            <a:r>
              <a:rPr lang="en-US" sz="850">
                <a:solidFill>
                  <a:srgbClr val="434343"/>
                </a:solidFill>
              </a:rPr>
              <a:t>Saves any </a:t>
            </a:r>
            <a:r>
              <a:rPr lang="en-US" sz="850" b="1">
                <a:solidFill>
                  <a:srgbClr val="434343"/>
                </a:solidFill>
              </a:rPr>
              <a:t>recording</a:t>
            </a:r>
            <a:r>
              <a:rPr lang="en-US" sz="850">
                <a:solidFill>
                  <a:srgbClr val="434343"/>
                </a:solidFill>
              </a:rPr>
              <a:t> you were making to a WAV file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Open Sans"/>
              <a:buNone/>
            </a:pPr>
            <a:endParaRPr lang="en-US" sz="1100"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49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22D2-28ED-4E4C-9131-885BF3F0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42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F801-CC8F-2605-C5C4-3DEA03451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78317"/>
            <a:ext cx="8520600" cy="1316204"/>
          </a:xfrm>
        </p:spPr>
        <p:txBody>
          <a:bodyPr>
            <a:noAutofit/>
          </a:bodyPr>
          <a:lstStyle/>
          <a:p>
            <a:pPr algn="ctr"/>
            <a:r>
              <a:rPr lang="en-US" sz="7200" b="1"/>
              <a:t>thank you</a:t>
            </a:r>
          </a:p>
        </p:txBody>
      </p:sp>
      <p:pic>
        <p:nvPicPr>
          <p:cNvPr id="3" name="Picture 2" descr="A person in a white shirt&#10;&#10;AI-generated content may be incorrect.">
            <a:extLst>
              <a:ext uri="{FF2B5EF4-FFF2-40B4-BE49-F238E27FC236}">
                <a16:creationId xmlns:a16="http://schemas.microsoft.com/office/drawing/2014/main" id="{C7E30438-5AE1-5728-2DBC-3133BD207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586" y="1871663"/>
            <a:ext cx="1782377" cy="267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9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501</Words>
  <Application>Microsoft Office PowerPoint</Application>
  <PresentationFormat>On-screen Show (16:9)</PresentationFormat>
  <Paragraphs>90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Open Sans</vt:lpstr>
      <vt:lpstr>Baskerville Old Face</vt:lpstr>
      <vt:lpstr>Roboto Mono</vt:lpstr>
      <vt:lpstr>Arial</vt:lpstr>
      <vt:lpstr>Fira Code</vt:lpstr>
      <vt:lpstr>Work Sans</vt:lpstr>
      <vt:lpstr>Open Sans Light</vt:lpstr>
      <vt:lpstr>Simple Light</vt:lpstr>
      <vt:lpstr>CWave</vt:lpstr>
      <vt:lpstr>What is CWave? </vt:lpstr>
      <vt:lpstr>What is CWave? </vt:lpstr>
      <vt:lpstr>Different waveforms</vt:lpstr>
      <vt:lpstr>Different waveforms</vt:lpstr>
      <vt:lpstr>Different waveforms</vt:lpstr>
      <vt:lpstr>Different waveforms</vt:lpstr>
      <vt:lpstr>includes and definitions</vt:lpstr>
      <vt:lpstr>includes and definitions</vt:lpstr>
      <vt:lpstr>data structures</vt:lpstr>
      <vt:lpstr>data structures</vt:lpstr>
      <vt:lpstr>data structures</vt:lpstr>
      <vt:lpstr>note handling</vt:lpstr>
      <vt:lpstr>note handling</vt:lpstr>
      <vt:lpstr>note handling</vt:lpstr>
      <vt:lpstr>MIDI callback</vt:lpstr>
      <vt:lpstr>MIDI callback</vt:lpstr>
      <vt:lpstr>waveform generator</vt:lpstr>
      <vt:lpstr>waveform generator</vt:lpstr>
      <vt:lpstr>Recording to WAV</vt:lpstr>
      <vt:lpstr>PortAudio Callback</vt:lpstr>
      <vt:lpstr>PowerPoint Presentation</vt:lpstr>
      <vt:lpstr>keyboard interaction</vt:lpstr>
      <vt:lpstr>GetFrequencyForKey</vt:lpstr>
      <vt:lpstr>GetFrequencyForKey</vt:lpstr>
      <vt:lpstr>main function - int main()</vt:lpstr>
      <vt:lpstr>Main Function - int main()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RR S&amp;H 2nd Sem C3 PRANAV PRABHAKAR</cp:lastModifiedBy>
  <cp:revision>44</cp:revision>
  <dcterms:modified xsi:type="dcterms:W3CDTF">2026-02-06T06:21:37Z</dcterms:modified>
</cp:coreProperties>
</file>